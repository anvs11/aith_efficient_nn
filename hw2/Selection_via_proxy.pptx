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90" r:id="rId2"/>
    <p:sldId id="288" r:id="rId3"/>
    <p:sldId id="292" r:id="rId4"/>
    <p:sldId id="291" r:id="rId5"/>
    <p:sldId id="289" r:id="rId6"/>
    <p:sldId id="293" r:id="rId7"/>
    <p:sldId id="294" r:id="rId8"/>
    <p:sldId id="274" r:id="rId9"/>
    <p:sldId id="295" r:id="rId10"/>
    <p:sldId id="281" r:id="rId11"/>
    <p:sldId id="296" r:id="rId12"/>
  </p:sldIdLst>
  <p:sldSz cx="12192000" cy="6858000"/>
  <p:notesSz cx="6858000" cy="12192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00"/>
    <a:srgbClr val="143A83"/>
    <a:srgbClr val="4FC3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0" autoAdjust="0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648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/>
            </a:pPr>
            <a:r>
              <a:rPr lang="ru-RU" sz="1400" b="0" i="0" u="none" strike="noStrike" kern="1200" baseline="0" dirty="0">
                <a:solidFill>
                  <a:srgbClr val="000000"/>
                </a:solidFill>
                <a:latin typeface="Arial"/>
              </a:rPr>
              <a:t>Ускорение отбора данных с </a:t>
            </a:r>
            <a:r>
              <a:rPr lang="en-US" sz="1400" b="0" i="0" u="none" strike="noStrike" kern="1200" baseline="0" dirty="0">
                <a:solidFill>
                  <a:srgbClr val="000000"/>
                </a:solidFill>
                <a:latin typeface="Arial"/>
              </a:rPr>
              <a:t>SVP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Ускорение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effectLst/>
          </c:spPr>
          <c:invertIfNegative val="0"/>
          <c:dLbls>
            <c:dLbl>
              <c:idx val="0"/>
              <c:numFmt formatCode="#,##0.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FCFD-43F5-B9C0-E6F41DD540AE}"/>
                </c:ext>
              </c:extLst>
            </c:dLbl>
            <c:dLbl>
              <c:idx val="1"/>
              <c:numFmt formatCode="#,##0.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FCFD-43F5-B9C0-E6F41DD540AE}"/>
                </c:ext>
              </c:extLst>
            </c:dLbl>
            <c:dLbl>
              <c:idx val="2"/>
              <c:numFmt formatCode="#,##0.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FCFD-43F5-B9C0-E6F41DD540AE}"/>
                </c:ext>
              </c:extLst>
            </c:dLbl>
            <c:numFmt formatCode="#,##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CIFAR-10</c:v>
                </c:pt>
                <c:pt idx="1">
                  <c:v>Amazon Polarity</c:v>
                </c:pt>
                <c:pt idx="2">
                  <c:v>ImageNet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41.9</c:v>
                </c:pt>
                <c:pt idx="2">
                  <c:v>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7A-4290-9A45-8058589F119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7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4412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A903F-5EC8-CCCD-29AD-6F822DB01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6C7413-F882-5604-385A-F860FE72B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7C8FDA-35D9-CB7E-22B4-700EBC9C63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BC9C1F-3786-67F3-E69A-66EE31BFC3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3283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8F4F8-0021-FF5B-AA63-0DF282A2E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421D49-340F-1DE6-E652-0A3FEA465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9ADB77-CDFF-2E1D-8539-BE2CF0487B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B9516-1272-09D4-CC84-CF96D93C40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1366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B4E7F-47A6-71E8-1169-575883E72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4F9FC8-631B-BA43-5B00-7D16B12A6E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2B1862-8296-51C5-6603-C2CC10C19B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B2C31-5FD3-7C51-58D6-D764B3F074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1492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B32C2-633D-9D12-E98D-CBF7DDCFF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E94D8F-6C86-8B2C-7A5E-069224B74D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04AF8F-36DE-8302-0258-BBE3CCF9C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9F039-A58F-34E8-6D10-E5251AE67A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9236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CF6A4-1FDA-BA60-5F9F-79CB2EEC1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AD4A9A-DAEE-EA3E-CB17-C93857BA0A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EFCEB3-2BC2-5D81-185C-CA3C15FFE8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F7BD10-F0EF-6BBE-E161-A9E09F7C73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281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D73CF-EB2F-6EF7-2D5F-2AEAE20BE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93AB4C-00E8-C76D-CACD-1F1291F2E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4E3792-3792-A238-6270-3FAF8E6EB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BB0B7-3931-3B22-43FC-A461B40928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3181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644DB-88B3-5346-F959-0710F6EC1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53B858-5403-F2A3-E2F4-F4CD3DFF83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6D6719-A105-E4FB-CBB8-C2756FFEAE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0BE1B-7E69-E25B-700A-906A27E915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0266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C5A35-72E1-3034-3204-EF2E5F344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DA9542-D1E8-FCEB-89A4-00B474C6B5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E31D58-AF39-E3EB-429F-094C03095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47613D-2453-B4A4-89B6-6B0CF2DC53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821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EA9D3-EB34-37E7-DF9B-C37D815E2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2B958C9-BF7B-EF81-8932-374CC6E8448E}"/>
              </a:ext>
            </a:extLst>
          </p:cNvPr>
          <p:cNvSpPr/>
          <p:nvPr/>
        </p:nvSpPr>
        <p:spPr>
          <a:xfrm>
            <a:off x="508000" y="1553707"/>
            <a:ext cx="5461000" cy="1802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SELECTION VIA PROXY: EFFICIENT DATA SELECTION</a:t>
            </a:r>
          </a:p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FOR DEEP LEARNING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5B5A9E4-C592-F14A-293E-857AEBFF1DF1}"/>
              </a:ext>
            </a:extLst>
          </p:cNvPr>
          <p:cNvSpPr/>
          <p:nvPr/>
        </p:nvSpPr>
        <p:spPr>
          <a:xfrm>
            <a:off x="508000" y="4581144"/>
            <a:ext cx="5461000" cy="552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ru-RU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Выполнил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Андреев Вячеслав</a:t>
            </a:r>
            <a:endParaRPr lang="en-US" dirty="0"/>
          </a:p>
        </p:txBody>
      </p:sp>
      <p:pic>
        <p:nvPicPr>
          <p:cNvPr id="4" name="Image 0" descr="https://kimi-img.moonshot.cn/pub/slides/okc/r2n2iqmlsz3m4/mnt/agents/output/template/images/image_4.png">
            <a:extLst>
              <a:ext uri="{FF2B5EF4-FFF2-40B4-BE49-F238E27FC236}">
                <a16:creationId xmlns:a16="http://schemas.microsoft.com/office/drawing/2014/main" id="{C1E68950-A863-5502-9E06-239D7C0CE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431800"/>
            <a:ext cx="2044700" cy="571500"/>
          </a:xfrm>
          <a:prstGeom prst="rect">
            <a:avLst/>
          </a:prstGeom>
        </p:spPr>
      </p:pic>
      <p:pic>
        <p:nvPicPr>
          <p:cNvPr id="5" name="Image 1" descr="https://kimi-img.moonshot.cn/pub/slides/okc/r2n2iqmlsz3m4/mnt/agents/output/template/images/image_2.png">
            <a:extLst>
              <a:ext uri="{FF2B5EF4-FFF2-40B4-BE49-F238E27FC236}">
                <a16:creationId xmlns:a16="http://schemas.microsoft.com/office/drawing/2014/main" id="{80B0E235-B337-54E0-66ED-71274D6F8A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5969000"/>
            <a:ext cx="939800" cy="254000"/>
          </a:xfrm>
          <a:prstGeom prst="rect">
            <a:avLst/>
          </a:prstGeom>
        </p:spPr>
      </p:pic>
      <p:pic>
        <p:nvPicPr>
          <p:cNvPr id="6" name="Image 2" descr="https://kimi-img.moonshot.cn/pub/slides/okc/r2n2iqmlsz3m4/mnt/agents/output/template/images/image_1.png">
            <a:extLst>
              <a:ext uri="{FF2B5EF4-FFF2-40B4-BE49-F238E27FC236}">
                <a16:creationId xmlns:a16="http://schemas.microsoft.com/office/drawing/2014/main" id="{AC5221B2-2ADC-7472-17CC-3C802F739B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4000" y="6045200"/>
            <a:ext cx="2235200" cy="177800"/>
          </a:xfrm>
          <a:prstGeom prst="rect">
            <a:avLst/>
          </a:prstGeom>
        </p:spPr>
      </p:pic>
      <p:sp>
        <p:nvSpPr>
          <p:cNvPr id="14" name="Shape 5">
            <a:extLst>
              <a:ext uri="{FF2B5EF4-FFF2-40B4-BE49-F238E27FC236}">
                <a16:creationId xmlns:a16="http://schemas.microsoft.com/office/drawing/2014/main" id="{317C0350-55B8-F566-0ECF-E4EAB1808672}"/>
              </a:ext>
            </a:extLst>
          </p:cNvPr>
          <p:cNvSpPr/>
          <p:nvPr/>
        </p:nvSpPr>
        <p:spPr>
          <a:xfrm>
            <a:off x="6146927" y="0"/>
            <a:ext cx="6045073" cy="6858000"/>
          </a:xfrm>
          <a:prstGeom prst="roundRect">
            <a:avLst>
              <a:gd name="adj" fmla="val 0"/>
            </a:avLst>
          </a:prstGeom>
          <a:solidFill>
            <a:schemeClr val="accent5">
              <a:lumMod val="75000"/>
            </a:schemeClr>
          </a:solidFill>
          <a:ln/>
        </p:spPr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E2C1BB23-787C-AF2C-B170-0AB4EBE26BD1}"/>
              </a:ext>
            </a:extLst>
          </p:cNvPr>
          <p:cNvSpPr/>
          <p:nvPr/>
        </p:nvSpPr>
        <p:spPr>
          <a:xfrm>
            <a:off x="6514464" y="2540000"/>
            <a:ext cx="5309997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ru-RU" sz="24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Как сделать существующие методы отбора данных более вычислительно эффективными для глубокого обучения</a:t>
            </a:r>
            <a:endParaRPr lang="en-US" sz="2800" dirty="0">
              <a:solidFill>
                <a:srgbClr val="666666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08412294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vz7x2o4fqhvyq/mnt/agents/output/converted/images/imag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32" y="431768"/>
            <a:ext cx="2044732" cy="571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782300" y="495300"/>
            <a:ext cx="901732" cy="482632"/>
          </a:xfrm>
          <a:prstGeom prst="rect">
            <a:avLst/>
          </a:prstGeom>
          <a:noFill/>
          <a:ln/>
        </p:spPr>
      </p:sp>
      <p:sp>
        <p:nvSpPr>
          <p:cNvPr id="4" name="Text 1"/>
          <p:cNvSpPr/>
          <p:nvPr/>
        </p:nvSpPr>
        <p:spPr>
          <a:xfrm>
            <a:off x="10690860" y="449580"/>
            <a:ext cx="1084612" cy="57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4000"/>
              </a:lnSpc>
            </a:pPr>
            <a:r>
              <a:rPr lang="en-US" sz="2273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2273" dirty="0"/>
          </a:p>
        </p:txBody>
      </p:sp>
      <p:sp>
        <p:nvSpPr>
          <p:cNvPr id="5" name="Shape 2"/>
          <p:cNvSpPr/>
          <p:nvPr/>
        </p:nvSpPr>
        <p:spPr>
          <a:xfrm>
            <a:off x="507969" y="1143000"/>
            <a:ext cx="7670768" cy="609600"/>
          </a:xfrm>
          <a:prstGeom prst="rect">
            <a:avLst/>
          </a:prstGeom>
          <a:noFill/>
          <a:ln/>
        </p:spPr>
      </p:sp>
      <p:sp>
        <p:nvSpPr>
          <p:cNvPr id="6" name="Text 3"/>
          <p:cNvSpPr/>
          <p:nvPr/>
        </p:nvSpPr>
        <p:spPr>
          <a:xfrm>
            <a:off x="458729" y="1199809"/>
            <a:ext cx="11278415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1000"/>
              </a:lnSpc>
            </a:pPr>
            <a:r>
              <a:rPr lang="ru-RU" sz="3473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Постановка проблемы</a:t>
            </a:r>
          </a:p>
        </p:txBody>
      </p:sp>
      <p:sp>
        <p:nvSpPr>
          <p:cNvPr id="17" name="Shape 14"/>
          <p:cNvSpPr/>
          <p:nvPr/>
        </p:nvSpPr>
        <p:spPr>
          <a:xfrm>
            <a:off x="507969" y="4953001"/>
            <a:ext cx="2540032" cy="317468"/>
          </a:xfrm>
          <a:prstGeom prst="rect">
            <a:avLst/>
          </a:prstGeom>
          <a:noFill/>
          <a:ln/>
        </p:spPr>
      </p:sp>
      <p:sp>
        <p:nvSpPr>
          <p:cNvPr id="35" name="Text 0">
            <a:extLst>
              <a:ext uri="{FF2B5EF4-FFF2-40B4-BE49-F238E27FC236}">
                <a16:creationId xmlns:a16="http://schemas.microsoft.com/office/drawing/2014/main" id="{F90185D7-51B4-052B-B0E5-E589C13B2C0B}"/>
              </a:ext>
            </a:extLst>
          </p:cNvPr>
          <p:cNvSpPr/>
          <p:nvPr/>
        </p:nvSpPr>
        <p:spPr>
          <a:xfrm>
            <a:off x="11807890" y="6330886"/>
            <a:ext cx="260155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4000"/>
              </a:lnSpc>
            </a:pPr>
            <a:r>
              <a:rPr lang="ru-RU" sz="2270" dirty="0">
                <a:solidFill>
                  <a:srgbClr val="0000FF"/>
                </a:solidFill>
                <a:latin typeface="Arial" pitchFamily="34" charset="0"/>
                <a:cs typeface="Arial" pitchFamily="34" charset="-120"/>
              </a:rPr>
              <a:t>2</a:t>
            </a:r>
            <a:endParaRPr lang="en-US" sz="2270" dirty="0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B512A483-0C63-6B72-DB42-7C0F8169CC16}"/>
              </a:ext>
            </a:extLst>
          </p:cNvPr>
          <p:cNvSpPr/>
          <p:nvPr/>
        </p:nvSpPr>
        <p:spPr>
          <a:xfrm>
            <a:off x="458728" y="2222320"/>
            <a:ext cx="11316743" cy="2325868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 algn="just"/>
            <a:endParaRPr lang="ru-RU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457200" algn="just"/>
            <a:endParaRPr lang="ru-RU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457200" algn="just"/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Классические методы отбора данных часто слишком дороги для применения в глубоком обучении. Модели глубокого обучения изучают сложные внутренние семантические представления (скрытые слои) из исходных данных (например, пикселей или символов), которые позволяют им достигать передовой производительности, но приводят к значительным временам обучения. 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435F43C5-5921-B9B0-9CCE-35D2727852F2}"/>
              </a:ext>
            </a:extLst>
          </p:cNvPr>
          <p:cNvSpPr/>
          <p:nvPr/>
        </p:nvSpPr>
        <p:spPr>
          <a:xfrm>
            <a:off x="507969" y="4791075"/>
            <a:ext cx="11316743" cy="1617345"/>
          </a:xfrm>
          <a:prstGeom prst="round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 algn="just"/>
            <a:b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данной работе мы покажем, что вычислительную эффективность можно значительно повысить, используя небольшую прокси-модель для отбора данных 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DE2AA079-BED9-D66F-99D6-ED8214A8C0E2}"/>
              </a:ext>
            </a:extLst>
          </p:cNvPr>
          <p:cNvSpPr/>
          <p:nvPr/>
        </p:nvSpPr>
        <p:spPr>
          <a:xfrm>
            <a:off x="458728" y="2222320"/>
            <a:ext cx="11316743" cy="6542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Проблема: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ECB940B3-F3DD-3088-4A2B-23B1DD486478}"/>
              </a:ext>
            </a:extLst>
          </p:cNvPr>
          <p:cNvSpPr/>
          <p:nvPr/>
        </p:nvSpPr>
        <p:spPr>
          <a:xfrm>
            <a:off x="507969" y="4791075"/>
            <a:ext cx="11316743" cy="4793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Предлагаемое решение: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A7BD0-9E73-5CD0-0669-B9F5B74B9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vz7x2o4fqhvyq/mnt/agents/output/converted/images/image_1.png">
            <a:extLst>
              <a:ext uri="{FF2B5EF4-FFF2-40B4-BE49-F238E27FC236}">
                <a16:creationId xmlns:a16="http://schemas.microsoft.com/office/drawing/2014/main" id="{015E67FB-0B74-77B0-A235-72A7206D3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32" y="431768"/>
            <a:ext cx="2044732" cy="571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807566CA-E466-AA8A-E912-EEFACBF344C1}"/>
              </a:ext>
            </a:extLst>
          </p:cNvPr>
          <p:cNvSpPr/>
          <p:nvPr/>
        </p:nvSpPr>
        <p:spPr>
          <a:xfrm>
            <a:off x="10782300" y="495300"/>
            <a:ext cx="901732" cy="482632"/>
          </a:xfrm>
          <a:prstGeom prst="rect">
            <a:avLst/>
          </a:prstGeom>
          <a:noFill/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E2DD78D-F676-3A4D-03EB-52DC7B62E7FF}"/>
              </a:ext>
            </a:extLst>
          </p:cNvPr>
          <p:cNvSpPr/>
          <p:nvPr/>
        </p:nvSpPr>
        <p:spPr>
          <a:xfrm>
            <a:off x="10690860" y="449580"/>
            <a:ext cx="1084612" cy="57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4000"/>
              </a:lnSpc>
            </a:pPr>
            <a:r>
              <a:rPr lang="en-US" sz="2273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2273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54CBF89-65FC-B993-EE5D-4C7EE8A58AC6}"/>
              </a:ext>
            </a:extLst>
          </p:cNvPr>
          <p:cNvSpPr/>
          <p:nvPr/>
        </p:nvSpPr>
        <p:spPr>
          <a:xfrm>
            <a:off x="507969" y="1143000"/>
            <a:ext cx="7670768" cy="609600"/>
          </a:xfrm>
          <a:prstGeom prst="rect">
            <a:avLst/>
          </a:prstGeom>
          <a:noFill/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D956BD9-42FC-BCDC-5995-EA4FE267CB7B}"/>
              </a:ext>
            </a:extLst>
          </p:cNvPr>
          <p:cNvSpPr/>
          <p:nvPr/>
        </p:nvSpPr>
        <p:spPr>
          <a:xfrm>
            <a:off x="458729" y="1199809"/>
            <a:ext cx="11278415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1000"/>
              </a:lnSpc>
            </a:pPr>
            <a:r>
              <a:rPr lang="ru-RU" sz="3473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Почему отбор данных сам может быть дорогим?</a:t>
            </a:r>
          </a:p>
        </p:txBody>
      </p:sp>
      <p:sp>
        <p:nvSpPr>
          <p:cNvPr id="35" name="Text 0">
            <a:extLst>
              <a:ext uri="{FF2B5EF4-FFF2-40B4-BE49-F238E27FC236}">
                <a16:creationId xmlns:a16="http://schemas.microsoft.com/office/drawing/2014/main" id="{FB900212-CF15-E21E-9BBF-C85DE1D2CE70}"/>
              </a:ext>
            </a:extLst>
          </p:cNvPr>
          <p:cNvSpPr/>
          <p:nvPr/>
        </p:nvSpPr>
        <p:spPr>
          <a:xfrm>
            <a:off x="11807890" y="6330886"/>
            <a:ext cx="260155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4000"/>
              </a:lnSpc>
            </a:pPr>
            <a:r>
              <a:rPr lang="ru-RU" sz="2270" dirty="0">
                <a:solidFill>
                  <a:srgbClr val="0000FF"/>
                </a:solidFill>
                <a:latin typeface="Arial" pitchFamily="34" charset="0"/>
                <a:cs typeface="Arial" pitchFamily="34" charset="-120"/>
              </a:rPr>
              <a:t>3</a:t>
            </a:r>
            <a:endParaRPr lang="en-US" sz="2270" dirty="0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8EE90F78-63EF-615D-C1D6-116F25E76619}"/>
              </a:ext>
            </a:extLst>
          </p:cNvPr>
          <p:cNvSpPr/>
          <p:nvPr/>
        </p:nvSpPr>
        <p:spPr>
          <a:xfrm>
            <a:off x="6096000" y="3136081"/>
            <a:ext cx="5366580" cy="232144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 algn="just"/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Большие нейросети и модели долго обучаются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Чтобы выявить полезные примеры, зачастую нужно сначала обучить модель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Если обучать тяжелые модели при каждом выборе, то  выполнение задачи сильно затягивается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Courier New" panose="02070309020205020404" pitchFamily="49" charset="0"/>
              <a:buChar char="o"/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58986AF-9210-2096-8EE1-4FC2F4D3B633}"/>
              </a:ext>
            </a:extLst>
          </p:cNvPr>
          <p:cNvSpPr/>
          <p:nvPr/>
        </p:nvSpPr>
        <p:spPr>
          <a:xfrm>
            <a:off x="866775" y="2466975"/>
            <a:ext cx="4210050" cy="885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Большой набор данных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B2E6805-1ADA-A5E8-EC25-56DDDA8BFB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05" t="703" r="16689" b="79582"/>
          <a:stretch>
            <a:fillRect/>
          </a:stretch>
        </p:blipFill>
        <p:spPr>
          <a:xfrm>
            <a:off x="1028700" y="2576059"/>
            <a:ext cx="678376" cy="667656"/>
          </a:xfrm>
          <a:prstGeom prst="rect">
            <a:avLst/>
          </a:prstGeom>
        </p:spPr>
      </p:pic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4E0A8A9F-73FA-B090-5627-2AF4F5C63A3F}"/>
              </a:ext>
            </a:extLst>
          </p:cNvPr>
          <p:cNvSpPr/>
          <p:nvPr/>
        </p:nvSpPr>
        <p:spPr>
          <a:xfrm>
            <a:off x="879693" y="3974042"/>
            <a:ext cx="4210050" cy="885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20AFA1A-B481-A1E9-6A16-08FCB08E2F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6110" r="6563" b="2223"/>
          <a:stretch>
            <a:fillRect/>
          </a:stretch>
        </p:blipFill>
        <p:spPr>
          <a:xfrm>
            <a:off x="1032364" y="4110748"/>
            <a:ext cx="674712" cy="612411"/>
          </a:xfrm>
          <a:prstGeom prst="rect">
            <a:avLst/>
          </a:prstGeom>
        </p:spPr>
      </p:pic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459FCB01-F74B-6098-5354-9D37EE730F38}"/>
              </a:ext>
            </a:extLst>
          </p:cNvPr>
          <p:cNvSpPr/>
          <p:nvPr/>
        </p:nvSpPr>
        <p:spPr>
          <a:xfrm>
            <a:off x="866775" y="5510742"/>
            <a:ext cx="4210050" cy="885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B7C3FC6C-8413-F6F0-533D-A988394EC74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833" r="22065" b="18032"/>
          <a:stretch>
            <a:fillRect/>
          </a:stretch>
        </p:blipFill>
        <p:spPr>
          <a:xfrm>
            <a:off x="1028700" y="5648922"/>
            <a:ext cx="674712" cy="608473"/>
          </a:xfrm>
          <a:prstGeom prst="rect">
            <a:avLst/>
          </a:prstGeom>
        </p:spPr>
      </p:pic>
      <p:sp>
        <p:nvSpPr>
          <p:cNvPr id="33" name="Стрелка: вниз 32">
            <a:extLst>
              <a:ext uri="{FF2B5EF4-FFF2-40B4-BE49-F238E27FC236}">
                <a16:creationId xmlns:a16="http://schemas.microsoft.com/office/drawing/2014/main" id="{72C95D4A-346C-C434-114F-517935786E3A}"/>
              </a:ext>
            </a:extLst>
          </p:cNvPr>
          <p:cNvSpPr/>
          <p:nvPr/>
        </p:nvSpPr>
        <p:spPr>
          <a:xfrm>
            <a:off x="2834640" y="3465024"/>
            <a:ext cx="259882" cy="396793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tx1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6" name="Стрелка: вниз 35">
            <a:extLst>
              <a:ext uri="{FF2B5EF4-FFF2-40B4-BE49-F238E27FC236}">
                <a16:creationId xmlns:a16="http://schemas.microsoft.com/office/drawing/2014/main" id="{64E3359A-BEB2-7813-7523-183D36BC1598}"/>
              </a:ext>
            </a:extLst>
          </p:cNvPr>
          <p:cNvSpPr/>
          <p:nvPr/>
        </p:nvSpPr>
        <p:spPr>
          <a:xfrm>
            <a:off x="2834640" y="4986908"/>
            <a:ext cx="259882" cy="396793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tx1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9955EEE-6049-34FB-4AFF-A53FEBC73FB6}"/>
              </a:ext>
            </a:extLst>
          </p:cNvPr>
          <p:cNvSpPr txBox="1"/>
          <p:nvPr/>
        </p:nvSpPr>
        <p:spPr>
          <a:xfrm>
            <a:off x="1707076" y="4108835"/>
            <a:ext cx="3297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Обучить большую модель, чтобы выбрать данные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F2BD148-CDB4-B2C9-6C4D-25E3F4648876}"/>
              </a:ext>
            </a:extLst>
          </p:cNvPr>
          <p:cNvSpPr txBox="1"/>
          <p:nvPr/>
        </p:nvSpPr>
        <p:spPr>
          <a:xfrm>
            <a:off x="1602347" y="5638189"/>
            <a:ext cx="3297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Дорого по времени и вычислениям</a:t>
            </a:r>
          </a:p>
        </p:txBody>
      </p:sp>
    </p:spTree>
    <p:extLst>
      <p:ext uri="{BB962C8B-B14F-4D97-AF65-F5344CB8AC3E}">
        <p14:creationId xmlns:p14="http://schemas.microsoft.com/office/powerpoint/2010/main" val="111187344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AB31F-56F7-279F-387D-7DAA05F92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vz7x2o4fqhvyq/mnt/agents/output/converted/images/image_1.png">
            <a:extLst>
              <a:ext uri="{FF2B5EF4-FFF2-40B4-BE49-F238E27FC236}">
                <a16:creationId xmlns:a16="http://schemas.microsoft.com/office/drawing/2014/main" id="{28DED0D5-F8EE-3B06-5BF9-7194C0E3D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32" y="431768"/>
            <a:ext cx="2044732" cy="571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22E771DB-62D1-81D2-9D0D-787D74F4E772}"/>
              </a:ext>
            </a:extLst>
          </p:cNvPr>
          <p:cNvSpPr/>
          <p:nvPr/>
        </p:nvSpPr>
        <p:spPr>
          <a:xfrm>
            <a:off x="10782300" y="495300"/>
            <a:ext cx="901732" cy="482632"/>
          </a:xfrm>
          <a:prstGeom prst="rect">
            <a:avLst/>
          </a:prstGeom>
          <a:noFill/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664EF81-FD5E-842F-98A5-116408D3F280}"/>
              </a:ext>
            </a:extLst>
          </p:cNvPr>
          <p:cNvSpPr/>
          <p:nvPr/>
        </p:nvSpPr>
        <p:spPr>
          <a:xfrm>
            <a:off x="10690860" y="449580"/>
            <a:ext cx="1084612" cy="57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4000"/>
              </a:lnSpc>
            </a:pPr>
            <a:r>
              <a:rPr lang="en-US" sz="2273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2273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6ED95B6-046F-FDA4-694F-44DCE159F5EA}"/>
              </a:ext>
            </a:extLst>
          </p:cNvPr>
          <p:cNvSpPr/>
          <p:nvPr/>
        </p:nvSpPr>
        <p:spPr>
          <a:xfrm>
            <a:off x="507969" y="1143000"/>
            <a:ext cx="7670768" cy="609600"/>
          </a:xfrm>
          <a:prstGeom prst="rect">
            <a:avLst/>
          </a:prstGeom>
          <a:noFill/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BFBA235-71F5-5264-36A5-6D169D8EC219}"/>
              </a:ext>
            </a:extLst>
          </p:cNvPr>
          <p:cNvSpPr/>
          <p:nvPr/>
        </p:nvSpPr>
        <p:spPr>
          <a:xfrm>
            <a:off x="458729" y="1199809"/>
            <a:ext cx="11278415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1000"/>
              </a:lnSpc>
            </a:pPr>
            <a:r>
              <a:rPr lang="ru-RU" sz="3473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Две задачи отбора данных</a:t>
            </a:r>
          </a:p>
        </p:txBody>
      </p:sp>
      <p:sp>
        <p:nvSpPr>
          <p:cNvPr id="35" name="Text 0">
            <a:extLst>
              <a:ext uri="{FF2B5EF4-FFF2-40B4-BE49-F238E27FC236}">
                <a16:creationId xmlns:a16="http://schemas.microsoft.com/office/drawing/2014/main" id="{2FCC11B1-0FDB-158F-AF13-39FD8B863129}"/>
              </a:ext>
            </a:extLst>
          </p:cNvPr>
          <p:cNvSpPr/>
          <p:nvPr/>
        </p:nvSpPr>
        <p:spPr>
          <a:xfrm>
            <a:off x="11807890" y="6330886"/>
            <a:ext cx="260155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4000"/>
              </a:lnSpc>
            </a:pPr>
            <a:r>
              <a:rPr lang="ru-RU" sz="2270" dirty="0">
                <a:solidFill>
                  <a:srgbClr val="0000FF"/>
                </a:solidFill>
                <a:latin typeface="Arial" pitchFamily="34" charset="0"/>
                <a:cs typeface="Arial" pitchFamily="34" charset="-120"/>
              </a:rPr>
              <a:t>4</a:t>
            </a:r>
            <a:endParaRPr lang="en-US" sz="2270" dirty="0"/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C7A932B0-5A6E-5EDA-E574-BA5130DF856F}"/>
              </a:ext>
            </a:extLst>
          </p:cNvPr>
          <p:cNvSpPr/>
          <p:nvPr/>
        </p:nvSpPr>
        <p:spPr>
          <a:xfrm>
            <a:off x="507969" y="2020197"/>
            <a:ext cx="4969919" cy="4441831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 algn="just"/>
            <a:endParaRPr lang="ru-RU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457200" algn="just"/>
            <a:endParaRPr lang="ru-RU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457200" algn="just"/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B9EF32C9-7232-7A11-8276-48D244C0D617}"/>
              </a:ext>
            </a:extLst>
          </p:cNvPr>
          <p:cNvSpPr/>
          <p:nvPr/>
        </p:nvSpPr>
        <p:spPr>
          <a:xfrm>
            <a:off x="507969" y="2020197"/>
            <a:ext cx="4969919" cy="6020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Подход: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Active Learning</a:t>
            </a:r>
            <a:endParaRPr lang="ru-RU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EFDEFDDD-8754-850F-384B-F1EA17959AD5}"/>
              </a:ext>
            </a:extLst>
          </p:cNvPr>
          <p:cNvSpPr/>
          <p:nvPr/>
        </p:nvSpPr>
        <p:spPr>
          <a:xfrm>
            <a:off x="507968" y="4235745"/>
            <a:ext cx="4969919" cy="5624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В чем экономия?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A177C76-CB98-882C-0346-9B9F0334D667}"/>
              </a:ext>
            </a:extLst>
          </p:cNvPr>
          <p:cNvSpPr txBox="1"/>
          <p:nvPr/>
        </p:nvSpPr>
        <p:spPr>
          <a:xfrm>
            <a:off x="661207" y="2951244"/>
            <a:ext cx="46634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У специалиста есть неразмеченные данные. Нужно отобрать набор, который следует отправить на разметку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8C6481A-4458-9ABA-1B82-4DBC8686EC8D}"/>
              </a:ext>
            </a:extLst>
          </p:cNvPr>
          <p:cNvSpPr txBox="1"/>
          <p:nvPr/>
        </p:nvSpPr>
        <p:spPr>
          <a:xfrm>
            <a:off x="712542" y="5252593"/>
            <a:ext cx="4663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Мы экономим на разметке, делая её осознанно, а не для всех подряд</a:t>
            </a:r>
          </a:p>
        </p:txBody>
      </p:sp>
      <p:sp>
        <p:nvSpPr>
          <p:cNvPr id="53" name="Прямоугольник: скругленные углы 52">
            <a:extLst>
              <a:ext uri="{FF2B5EF4-FFF2-40B4-BE49-F238E27FC236}">
                <a16:creationId xmlns:a16="http://schemas.microsoft.com/office/drawing/2014/main" id="{3433C41C-654E-2ACB-CFE9-397034BDF811}"/>
              </a:ext>
            </a:extLst>
          </p:cNvPr>
          <p:cNvSpPr/>
          <p:nvPr/>
        </p:nvSpPr>
        <p:spPr>
          <a:xfrm>
            <a:off x="6377775" y="2020197"/>
            <a:ext cx="4969919" cy="4441831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 algn="just"/>
            <a:endParaRPr lang="ru-RU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457200" algn="just"/>
            <a:endParaRPr lang="ru-RU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457200" algn="just"/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Прямоугольник: скругленные углы 54">
            <a:extLst>
              <a:ext uri="{FF2B5EF4-FFF2-40B4-BE49-F238E27FC236}">
                <a16:creationId xmlns:a16="http://schemas.microsoft.com/office/drawing/2014/main" id="{D560E076-9C62-4D2C-D6F2-8D7FE0BA73F3}"/>
              </a:ext>
            </a:extLst>
          </p:cNvPr>
          <p:cNvSpPr/>
          <p:nvPr/>
        </p:nvSpPr>
        <p:spPr>
          <a:xfrm>
            <a:off x="6377775" y="2020197"/>
            <a:ext cx="4969919" cy="6020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Подход: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Core-set selection</a:t>
            </a:r>
            <a:endParaRPr lang="ru-RU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Прямоугольник: скругленные углы 56">
            <a:extLst>
              <a:ext uri="{FF2B5EF4-FFF2-40B4-BE49-F238E27FC236}">
                <a16:creationId xmlns:a16="http://schemas.microsoft.com/office/drawing/2014/main" id="{73F53914-E090-4C00-6575-FCB0725F3D1E}"/>
              </a:ext>
            </a:extLst>
          </p:cNvPr>
          <p:cNvSpPr/>
          <p:nvPr/>
        </p:nvSpPr>
        <p:spPr>
          <a:xfrm>
            <a:off x="6377774" y="4235745"/>
            <a:ext cx="4969919" cy="5624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В чем экономия?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6A8D91B-747B-8316-80F1-BD58605BBAA6}"/>
              </a:ext>
            </a:extLst>
          </p:cNvPr>
          <p:cNvSpPr txBox="1"/>
          <p:nvPr/>
        </p:nvSpPr>
        <p:spPr>
          <a:xfrm>
            <a:off x="6531013" y="2854007"/>
            <a:ext cx="46634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Все данные уже размечены. Нужно оставить часть примеров, на которых можно обучить модель с сопоставимым качеством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6CAEB6D-4830-B5A8-BB08-250940730217}"/>
              </a:ext>
            </a:extLst>
          </p:cNvPr>
          <p:cNvSpPr txBox="1"/>
          <p:nvPr/>
        </p:nvSpPr>
        <p:spPr>
          <a:xfrm>
            <a:off x="6582348" y="5214089"/>
            <a:ext cx="46634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Мы экономим на обучении. Учимся на меньшем наборе быстрее, сильно не теряя в качестве</a:t>
            </a:r>
          </a:p>
        </p:txBody>
      </p:sp>
    </p:spTree>
    <p:extLst>
      <p:ext uri="{BB962C8B-B14F-4D97-AF65-F5344CB8AC3E}">
        <p14:creationId xmlns:p14="http://schemas.microsoft.com/office/powerpoint/2010/main" val="383637122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1D286-1843-DD4B-9040-ADAB2E40E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vz7x2o4fqhvyq/mnt/agents/output/converted/images/image_1.png">
            <a:extLst>
              <a:ext uri="{FF2B5EF4-FFF2-40B4-BE49-F238E27FC236}">
                <a16:creationId xmlns:a16="http://schemas.microsoft.com/office/drawing/2014/main" id="{C4F6C545-F54F-68F9-918C-220172AD2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32" y="431768"/>
            <a:ext cx="2044732" cy="571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81B6110C-FF57-FD5F-4164-65D3DFD72656}"/>
              </a:ext>
            </a:extLst>
          </p:cNvPr>
          <p:cNvSpPr/>
          <p:nvPr/>
        </p:nvSpPr>
        <p:spPr>
          <a:xfrm>
            <a:off x="10782300" y="495300"/>
            <a:ext cx="901732" cy="482632"/>
          </a:xfrm>
          <a:prstGeom prst="rect">
            <a:avLst/>
          </a:prstGeom>
          <a:noFill/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855987F-3017-6E09-511A-8C0E971A3C91}"/>
              </a:ext>
            </a:extLst>
          </p:cNvPr>
          <p:cNvSpPr/>
          <p:nvPr/>
        </p:nvSpPr>
        <p:spPr>
          <a:xfrm>
            <a:off x="10690860" y="449580"/>
            <a:ext cx="1084612" cy="57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4000"/>
              </a:lnSpc>
            </a:pPr>
            <a:r>
              <a:rPr lang="en-US" sz="2273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2273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3AF9EDA-E58B-5B97-D1A0-DE30368B6F00}"/>
              </a:ext>
            </a:extLst>
          </p:cNvPr>
          <p:cNvSpPr/>
          <p:nvPr/>
        </p:nvSpPr>
        <p:spPr>
          <a:xfrm>
            <a:off x="507969" y="1143000"/>
            <a:ext cx="7670768" cy="609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ru-RU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D3A2BA4-E572-7FF6-6688-3E0C36185DBB}"/>
              </a:ext>
            </a:extLst>
          </p:cNvPr>
          <p:cNvSpPr/>
          <p:nvPr/>
        </p:nvSpPr>
        <p:spPr>
          <a:xfrm>
            <a:off x="416528" y="1097280"/>
            <a:ext cx="11175967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1000"/>
              </a:lnSpc>
            </a:pPr>
            <a:r>
              <a:rPr lang="ru-RU" sz="3473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Пусть данные выбирает маленькая модель</a:t>
            </a:r>
          </a:p>
        </p:txBody>
      </p:sp>
      <p:sp>
        <p:nvSpPr>
          <p:cNvPr id="34" name="Text 0">
            <a:extLst>
              <a:ext uri="{FF2B5EF4-FFF2-40B4-BE49-F238E27FC236}">
                <a16:creationId xmlns:a16="http://schemas.microsoft.com/office/drawing/2014/main" id="{4FDF7A3F-CC2D-44A7-6539-0EEFABBC52DA}"/>
              </a:ext>
            </a:extLst>
          </p:cNvPr>
          <p:cNvSpPr/>
          <p:nvPr/>
        </p:nvSpPr>
        <p:spPr>
          <a:xfrm>
            <a:off x="11683937" y="6312291"/>
            <a:ext cx="260155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4000"/>
              </a:lnSpc>
            </a:pPr>
            <a:r>
              <a:rPr lang="ru-RU" sz="2270" dirty="0">
                <a:solidFill>
                  <a:srgbClr val="0000FF"/>
                </a:solidFill>
                <a:latin typeface="Arial" pitchFamily="34" charset="0"/>
                <a:cs typeface="Arial" pitchFamily="34" charset="-120"/>
              </a:rPr>
              <a:t>5</a:t>
            </a:r>
            <a:endParaRPr lang="en-US" sz="227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8CC7AE2F-8CAE-B842-C4DB-BF7F3A742331}"/>
              </a:ext>
            </a:extLst>
          </p:cNvPr>
          <p:cNvSpPr/>
          <p:nvPr/>
        </p:nvSpPr>
        <p:spPr>
          <a:xfrm>
            <a:off x="464905" y="5729430"/>
            <a:ext cx="11079212" cy="756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457200" algn="l">
              <a:lnSpc>
                <a:spcPct val="140000"/>
              </a:lnSpc>
            </a:pP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Авторы статьи предлагают разделить обязанности. Дешевая модель определяет, какие примеры разметить или оставить, а целевая сильная модель решает конечную задачу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1944AEE9-8859-9F90-2A42-7C4906AD5190}"/>
              </a:ext>
            </a:extLst>
          </p:cNvPr>
          <p:cNvSpPr/>
          <p:nvPr/>
        </p:nvSpPr>
        <p:spPr>
          <a:xfrm>
            <a:off x="477757" y="1753010"/>
            <a:ext cx="11079212" cy="498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Selection via Proxy (SVP)</a:t>
            </a:r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48410333-EE5F-D2C3-20AF-A6E0ACA818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197550"/>
            <a:ext cx="12192000" cy="3563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32870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A79F9-DF49-25F6-0CFA-A4A3D53FA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vz7x2o4fqhvyq/mnt/agents/output/converted/images/image_1.png">
            <a:extLst>
              <a:ext uri="{FF2B5EF4-FFF2-40B4-BE49-F238E27FC236}">
                <a16:creationId xmlns:a16="http://schemas.microsoft.com/office/drawing/2014/main" id="{F5C77F41-A8B0-6AD7-D658-F32530584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32" y="431768"/>
            <a:ext cx="2044732" cy="571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1E87D5E3-2282-EEFA-64AB-2E6D4CCDFA0E}"/>
              </a:ext>
            </a:extLst>
          </p:cNvPr>
          <p:cNvSpPr/>
          <p:nvPr/>
        </p:nvSpPr>
        <p:spPr>
          <a:xfrm>
            <a:off x="10782300" y="495300"/>
            <a:ext cx="901732" cy="482632"/>
          </a:xfrm>
          <a:prstGeom prst="rect">
            <a:avLst/>
          </a:prstGeom>
          <a:noFill/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0537BF1-C55C-CCDA-523D-A9084BDE4DA6}"/>
              </a:ext>
            </a:extLst>
          </p:cNvPr>
          <p:cNvSpPr/>
          <p:nvPr/>
        </p:nvSpPr>
        <p:spPr>
          <a:xfrm>
            <a:off x="10690860" y="449580"/>
            <a:ext cx="1084612" cy="57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4000"/>
              </a:lnSpc>
            </a:pPr>
            <a:r>
              <a:rPr lang="en-US" sz="2273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2273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047D54F0-4B7B-F57D-5050-6798241FD45A}"/>
              </a:ext>
            </a:extLst>
          </p:cNvPr>
          <p:cNvSpPr/>
          <p:nvPr/>
        </p:nvSpPr>
        <p:spPr>
          <a:xfrm>
            <a:off x="507969" y="1143000"/>
            <a:ext cx="7670768" cy="609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ru-RU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AFD86D2-AD0D-2EBB-4540-9C1B7228E60D}"/>
              </a:ext>
            </a:extLst>
          </p:cNvPr>
          <p:cNvSpPr/>
          <p:nvPr/>
        </p:nvSpPr>
        <p:spPr>
          <a:xfrm>
            <a:off x="416528" y="1097280"/>
            <a:ext cx="11175967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1000"/>
              </a:lnSpc>
            </a:pPr>
            <a:r>
              <a:rPr lang="ru-RU" sz="3473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В чем феномен прокси?</a:t>
            </a:r>
          </a:p>
        </p:txBody>
      </p:sp>
      <p:sp>
        <p:nvSpPr>
          <p:cNvPr id="34" name="Text 0">
            <a:extLst>
              <a:ext uri="{FF2B5EF4-FFF2-40B4-BE49-F238E27FC236}">
                <a16:creationId xmlns:a16="http://schemas.microsoft.com/office/drawing/2014/main" id="{CDCD58D4-3B59-4840-9783-F657667A6A6C}"/>
              </a:ext>
            </a:extLst>
          </p:cNvPr>
          <p:cNvSpPr/>
          <p:nvPr/>
        </p:nvSpPr>
        <p:spPr>
          <a:xfrm>
            <a:off x="11683937" y="6312291"/>
            <a:ext cx="260155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4000"/>
              </a:lnSpc>
            </a:pPr>
            <a:r>
              <a:rPr lang="ru-RU" sz="2270" dirty="0">
                <a:solidFill>
                  <a:srgbClr val="0000FF"/>
                </a:solidFill>
                <a:latin typeface="Arial" pitchFamily="34" charset="0"/>
                <a:cs typeface="Arial" pitchFamily="34" charset="-120"/>
              </a:rPr>
              <a:t>6</a:t>
            </a:r>
            <a:endParaRPr lang="en-US" sz="227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057912E-F4F8-96EA-E512-A567B7291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21" y="1667847"/>
            <a:ext cx="12147758" cy="3562093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A8E39D63-B68C-685A-092C-A799D724D05A}"/>
              </a:ext>
            </a:extLst>
          </p:cNvPr>
          <p:cNvSpPr/>
          <p:nvPr/>
        </p:nvSpPr>
        <p:spPr>
          <a:xfrm>
            <a:off x="265926" y="5202303"/>
            <a:ext cx="11660148" cy="1339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457200" algn="just"/>
            <a:r>
              <a:rPr lang="ru-RU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прокси важна не максимальная точность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она может ошибаться, но достаточно хорошо отличать полезные примеры от менее значимых. 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ResNet20 </a:t>
            </a:r>
            <a:r>
              <a:rPr lang="ru-RU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 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CIFAR-10 </a:t>
            </a:r>
            <a:r>
              <a:rPr lang="ru-RU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обучается примерно за 26 минут, в то время как 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ResNet164</a:t>
            </a:r>
            <a:r>
              <a:rPr lang="ru-RU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около 4 часов. Было обнаружено,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что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меньшие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прокси-модели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имеют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высокую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ранговую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корреляцию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Спирмена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 </a:t>
            </a:r>
            <a:r>
              <a:rPr lang="en-US" sz="17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моделями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7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которые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в 10 </a:t>
            </a:r>
            <a:r>
              <a:rPr lang="en-US" sz="17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больше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и </a:t>
            </a:r>
            <a:r>
              <a:rPr lang="en-US" sz="17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работают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так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же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хорошо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7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как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эти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большие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модели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7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выявлении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подмножеств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точек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обучения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7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которые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дают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высокую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точность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тестовых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данных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1006262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3278F-EC7E-D683-41AB-892167AE3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vz7x2o4fqhvyq/mnt/agents/output/converted/images/image_1.png">
            <a:extLst>
              <a:ext uri="{FF2B5EF4-FFF2-40B4-BE49-F238E27FC236}">
                <a16:creationId xmlns:a16="http://schemas.microsoft.com/office/drawing/2014/main" id="{9FAEA791-10F7-653D-91BB-59E3C1301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32" y="431768"/>
            <a:ext cx="2044732" cy="571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35CDC4EA-0DAC-6F7C-147F-78937FBC209E}"/>
              </a:ext>
            </a:extLst>
          </p:cNvPr>
          <p:cNvSpPr/>
          <p:nvPr/>
        </p:nvSpPr>
        <p:spPr>
          <a:xfrm>
            <a:off x="10782300" y="495300"/>
            <a:ext cx="901732" cy="482632"/>
          </a:xfrm>
          <a:prstGeom prst="rect">
            <a:avLst/>
          </a:prstGeom>
          <a:noFill/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1B9AB32-36F1-1150-667B-EF3F5115EA96}"/>
              </a:ext>
            </a:extLst>
          </p:cNvPr>
          <p:cNvSpPr/>
          <p:nvPr/>
        </p:nvSpPr>
        <p:spPr>
          <a:xfrm>
            <a:off x="10690860" y="449580"/>
            <a:ext cx="1084612" cy="57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4000"/>
              </a:lnSpc>
            </a:pPr>
            <a:r>
              <a:rPr lang="en-US" sz="2273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2273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21212A0A-DA56-AF24-E4C8-C5F8981AEBF1}"/>
              </a:ext>
            </a:extLst>
          </p:cNvPr>
          <p:cNvSpPr/>
          <p:nvPr/>
        </p:nvSpPr>
        <p:spPr>
          <a:xfrm>
            <a:off x="507969" y="1143000"/>
            <a:ext cx="7670768" cy="609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ru-RU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6E09C4F-EC78-FA2E-936A-45458B0BE4D7}"/>
              </a:ext>
            </a:extLst>
          </p:cNvPr>
          <p:cNvSpPr/>
          <p:nvPr/>
        </p:nvSpPr>
        <p:spPr>
          <a:xfrm>
            <a:off x="416528" y="1097280"/>
            <a:ext cx="11175967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1000"/>
              </a:lnSpc>
            </a:pPr>
            <a:r>
              <a:rPr lang="ru-RU" sz="3473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Как понять, какие данные важны?</a:t>
            </a:r>
          </a:p>
        </p:txBody>
      </p:sp>
      <p:sp>
        <p:nvSpPr>
          <p:cNvPr id="34" name="Text 0">
            <a:extLst>
              <a:ext uri="{FF2B5EF4-FFF2-40B4-BE49-F238E27FC236}">
                <a16:creationId xmlns:a16="http://schemas.microsoft.com/office/drawing/2014/main" id="{49CC7981-8279-F472-60E8-BD3D2739D104}"/>
              </a:ext>
            </a:extLst>
          </p:cNvPr>
          <p:cNvSpPr/>
          <p:nvPr/>
        </p:nvSpPr>
        <p:spPr>
          <a:xfrm>
            <a:off x="11683937" y="6312291"/>
            <a:ext cx="260155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4000"/>
              </a:lnSpc>
            </a:pPr>
            <a:r>
              <a:rPr lang="ru-RU" sz="2270" dirty="0">
                <a:solidFill>
                  <a:srgbClr val="0000FF"/>
                </a:solidFill>
                <a:latin typeface="Arial" pitchFamily="34" charset="0"/>
                <a:cs typeface="Arial" pitchFamily="34" charset="-120"/>
              </a:rPr>
              <a:t>7</a:t>
            </a:r>
            <a:endParaRPr lang="en-US" sz="2270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9A525F52-6417-A0F3-FE32-DF26A00D31DB}"/>
              </a:ext>
            </a:extLst>
          </p:cNvPr>
          <p:cNvSpPr/>
          <p:nvPr/>
        </p:nvSpPr>
        <p:spPr>
          <a:xfrm>
            <a:off x="416528" y="1750748"/>
            <a:ext cx="3488047" cy="3196638"/>
          </a:xfrm>
          <a:prstGeom prst="rect">
            <a:avLst/>
          </a:prstGeom>
          <a:solidFill>
            <a:schemeClr val="bg2">
              <a:lumMod val="50000"/>
            </a:schemeClr>
          </a:solidFill>
          <a:ln/>
          <a:effectLst>
            <a:outerShdw blurRad="276860" dist="127" dir="16200000" algn="bl" rotWithShape="0">
              <a:srgbClr val="B7BCEB">
                <a:alpha val="20000"/>
              </a:srgbClr>
            </a:outerShdw>
          </a:effectLst>
        </p:spPr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768C6E51-B45B-D33E-8064-F7730051FC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22" y="1979347"/>
            <a:ext cx="3030859" cy="1238250"/>
          </a:xfrm>
          <a:prstGeom prst="rect">
            <a:avLst/>
          </a:prstGeom>
        </p:spPr>
      </p:pic>
      <p:sp>
        <p:nvSpPr>
          <p:cNvPr id="13" name="Shape 5">
            <a:extLst>
              <a:ext uri="{FF2B5EF4-FFF2-40B4-BE49-F238E27FC236}">
                <a16:creationId xmlns:a16="http://schemas.microsoft.com/office/drawing/2014/main" id="{06CC2276-DDE0-301C-DDB4-EBD8B9B0A524}"/>
              </a:ext>
            </a:extLst>
          </p:cNvPr>
          <p:cNvSpPr/>
          <p:nvPr/>
        </p:nvSpPr>
        <p:spPr>
          <a:xfrm>
            <a:off x="4209368" y="1750747"/>
            <a:ext cx="3488047" cy="3196639"/>
          </a:xfrm>
          <a:prstGeom prst="rect">
            <a:avLst/>
          </a:prstGeom>
          <a:solidFill>
            <a:schemeClr val="bg2">
              <a:lumMod val="50000"/>
            </a:schemeClr>
          </a:solidFill>
          <a:ln/>
          <a:effectLst>
            <a:outerShdw blurRad="276860" dist="127" dir="16200000" algn="bl" rotWithShape="0">
              <a:srgbClr val="B7BCEB">
                <a:alpha val="20000"/>
              </a:srgbClr>
            </a:outerShdw>
          </a:effectLst>
        </p:spPr>
      </p:sp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AB52079A-6E4F-5CB4-3B10-C3932D9CFC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7962" y="1979347"/>
            <a:ext cx="3030859" cy="1238250"/>
          </a:xfrm>
          <a:prstGeom prst="rect">
            <a:avLst/>
          </a:prstGeom>
        </p:spPr>
      </p:pic>
      <p:sp>
        <p:nvSpPr>
          <p:cNvPr id="17" name="Shape 8">
            <a:extLst>
              <a:ext uri="{FF2B5EF4-FFF2-40B4-BE49-F238E27FC236}">
                <a16:creationId xmlns:a16="http://schemas.microsoft.com/office/drawing/2014/main" id="{9D92EF6F-CB24-3314-57ED-A6A2EC46B268}"/>
              </a:ext>
            </a:extLst>
          </p:cNvPr>
          <p:cNvSpPr/>
          <p:nvPr/>
        </p:nvSpPr>
        <p:spPr>
          <a:xfrm>
            <a:off x="8002108" y="1750747"/>
            <a:ext cx="3488146" cy="3196639"/>
          </a:xfrm>
          <a:prstGeom prst="rect">
            <a:avLst/>
          </a:prstGeom>
          <a:solidFill>
            <a:schemeClr val="bg2">
              <a:lumMod val="50000"/>
            </a:schemeClr>
          </a:solidFill>
          <a:ln/>
          <a:effectLst>
            <a:outerShdw blurRad="276860" dist="127" dir="16200000" algn="bl" rotWithShape="0">
              <a:srgbClr val="B7BCEB">
                <a:alpha val="20000"/>
              </a:srgbClr>
            </a:outerShdw>
          </a:effectLst>
        </p:spPr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FD7666A-9452-CA8B-EE9E-24ABCEECD6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0702" y="1979347"/>
            <a:ext cx="3030958" cy="1238250"/>
          </a:xfrm>
          <a:prstGeom prst="rect">
            <a:avLst/>
          </a:prstGeom>
        </p:spPr>
      </p:pic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318B08B-F9F3-16ED-8215-C51F8298AC3D}"/>
              </a:ext>
            </a:extLst>
          </p:cNvPr>
          <p:cNvSpPr/>
          <p:nvPr/>
        </p:nvSpPr>
        <p:spPr>
          <a:xfrm>
            <a:off x="416528" y="1752600"/>
            <a:ext cx="3488047" cy="161624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1FE90AD8-1754-0390-569C-4E66F23675F7}"/>
              </a:ext>
            </a:extLst>
          </p:cNvPr>
          <p:cNvSpPr/>
          <p:nvPr/>
        </p:nvSpPr>
        <p:spPr>
          <a:xfrm>
            <a:off x="4209368" y="1750221"/>
            <a:ext cx="3488047" cy="161624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6B4E228-560B-0C84-F985-A1619F5DDBC0}"/>
              </a:ext>
            </a:extLst>
          </p:cNvPr>
          <p:cNvSpPr/>
          <p:nvPr/>
        </p:nvSpPr>
        <p:spPr>
          <a:xfrm>
            <a:off x="8002108" y="1732824"/>
            <a:ext cx="3488047" cy="161624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DAAE50-FF93-75BD-7EE4-CBB077BE9794}"/>
              </a:ext>
            </a:extLst>
          </p:cNvPr>
          <p:cNvSpPr txBox="1"/>
          <p:nvPr/>
        </p:nvSpPr>
        <p:spPr>
          <a:xfrm>
            <a:off x="507969" y="3549869"/>
            <a:ext cx="33276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Модель сомневается между несколькими классами. Чем выше неопределенность, тем выше энтропия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D1C835-8889-F03A-3949-AC2F8DC8F381}"/>
              </a:ext>
            </a:extLst>
          </p:cNvPr>
          <p:cNvSpPr txBox="1"/>
          <p:nvPr/>
        </p:nvSpPr>
        <p:spPr>
          <a:xfrm>
            <a:off x="4272774" y="3575562"/>
            <a:ext cx="33612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Считаем, сколько раз пример сначала был классифицирован правильно, а затем неправильно (забыт)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71E4B8-0B6B-6E74-FFC3-B55FA0F6C5AF}"/>
              </a:ext>
            </a:extLst>
          </p:cNvPr>
          <p:cNvSpPr txBox="1"/>
          <p:nvPr/>
        </p:nvSpPr>
        <p:spPr>
          <a:xfrm>
            <a:off x="8071116" y="3411369"/>
            <a:ext cx="33276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Выбираем примеры так, чтобы покрыть разные области пространства признаков, а не собрать много похожих объектов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D300451-7C53-97DC-4D0E-D1166A89ADB9}"/>
              </a:ext>
            </a:extLst>
          </p:cNvPr>
          <p:cNvSpPr txBox="1"/>
          <p:nvPr/>
        </p:nvSpPr>
        <p:spPr>
          <a:xfrm>
            <a:off x="458238" y="5399878"/>
            <a:ext cx="11032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Критерии отвечают на разные вопросы. Энтропия ищет сомнения модели, события забывания – примеры, которые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турдно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стабильно выучить, 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k-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ctnters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стремится к разнообразию.</a:t>
            </a:r>
          </a:p>
        </p:txBody>
      </p:sp>
    </p:spTree>
    <p:extLst>
      <p:ext uri="{BB962C8B-B14F-4D97-AF65-F5344CB8AC3E}">
        <p14:creationId xmlns:p14="http://schemas.microsoft.com/office/powerpoint/2010/main" val="92020580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r2n2iqmlsz3m4/mnt/agents/output/template/images/image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431800"/>
            <a:ext cx="2044700" cy="571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782300" y="495300"/>
            <a:ext cx="9017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4000"/>
              </a:lnSpc>
            </a:pPr>
            <a:r>
              <a:rPr lang="en-US" sz="227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2270" dirty="0"/>
          </a:p>
        </p:txBody>
      </p:sp>
      <p:sp>
        <p:nvSpPr>
          <p:cNvPr id="4" name="Text 1"/>
          <p:cNvSpPr/>
          <p:nvPr/>
        </p:nvSpPr>
        <p:spPr>
          <a:xfrm>
            <a:off x="508000" y="1143000"/>
            <a:ext cx="1139326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1000"/>
              </a:lnSpc>
            </a:pPr>
            <a:r>
              <a:rPr lang="ru-RU" sz="3600" b="1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Как работает </a:t>
            </a:r>
            <a:r>
              <a:rPr lang="en-US" sz="3600" b="1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SVP</a:t>
            </a:r>
            <a:r>
              <a:rPr lang="ru-RU" sz="3600" b="1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?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0">
            <a:extLst>
              <a:ext uri="{FF2B5EF4-FFF2-40B4-BE49-F238E27FC236}">
                <a16:creationId xmlns:a16="http://schemas.microsoft.com/office/drawing/2014/main" id="{29BDBD17-5B74-32E3-FDF9-BF15F78F57DB}"/>
              </a:ext>
            </a:extLst>
          </p:cNvPr>
          <p:cNvSpPr/>
          <p:nvPr/>
        </p:nvSpPr>
        <p:spPr>
          <a:xfrm>
            <a:off x="11683937" y="6312291"/>
            <a:ext cx="260155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4000"/>
              </a:lnSpc>
            </a:pPr>
            <a:r>
              <a:rPr lang="ru-RU" sz="2270" dirty="0">
                <a:solidFill>
                  <a:srgbClr val="0000FF"/>
                </a:solidFill>
                <a:latin typeface="Arial" pitchFamily="34" charset="0"/>
                <a:cs typeface="Arial" pitchFamily="34" charset="-120"/>
              </a:rPr>
              <a:t>8</a:t>
            </a:r>
            <a:endParaRPr lang="en-US" sz="2270" dirty="0"/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A82DF6F7-36DE-5034-36B7-6F05192E37FF}"/>
              </a:ext>
            </a:extLst>
          </p:cNvPr>
          <p:cNvSpPr/>
          <p:nvPr/>
        </p:nvSpPr>
        <p:spPr>
          <a:xfrm>
            <a:off x="427256" y="2103514"/>
            <a:ext cx="3500438" cy="60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Обучаем прокси модель</a:t>
            </a:r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9CD6CD80-99D4-3ACB-9640-9260B891C8A7}"/>
              </a:ext>
            </a:extLst>
          </p:cNvPr>
          <p:cNvSpPr/>
          <p:nvPr/>
        </p:nvSpPr>
        <p:spPr>
          <a:xfrm>
            <a:off x="427256" y="3217525"/>
            <a:ext cx="3500438" cy="60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Выбрать примеры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5B3B1453-5B4F-155F-AC38-F659C79DB123}"/>
              </a:ext>
            </a:extLst>
          </p:cNvPr>
          <p:cNvSpPr/>
          <p:nvPr/>
        </p:nvSpPr>
        <p:spPr>
          <a:xfrm>
            <a:off x="427256" y="4361585"/>
            <a:ext cx="3500438" cy="54379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Разметить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Стрелка: вниз 59">
            <a:extLst>
              <a:ext uri="{FF2B5EF4-FFF2-40B4-BE49-F238E27FC236}">
                <a16:creationId xmlns:a16="http://schemas.microsoft.com/office/drawing/2014/main" id="{C85C27E4-FC5A-E97F-9930-42AAAA412F5C}"/>
              </a:ext>
            </a:extLst>
          </p:cNvPr>
          <p:cNvSpPr/>
          <p:nvPr/>
        </p:nvSpPr>
        <p:spPr>
          <a:xfrm>
            <a:off x="2056518" y="2787801"/>
            <a:ext cx="216078" cy="355443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tx1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2" name="Стрелка: вниз 61">
            <a:extLst>
              <a:ext uri="{FF2B5EF4-FFF2-40B4-BE49-F238E27FC236}">
                <a16:creationId xmlns:a16="http://schemas.microsoft.com/office/drawing/2014/main" id="{4CFBF0EE-4F91-613D-99D6-DDDC1CD573FB}"/>
              </a:ext>
            </a:extLst>
          </p:cNvPr>
          <p:cNvSpPr/>
          <p:nvPr/>
        </p:nvSpPr>
        <p:spPr>
          <a:xfrm>
            <a:off x="2069436" y="3884728"/>
            <a:ext cx="216078" cy="396793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tx1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52" name="Прямоугольник 151">
            <a:extLst>
              <a:ext uri="{FF2B5EF4-FFF2-40B4-BE49-F238E27FC236}">
                <a16:creationId xmlns:a16="http://schemas.microsoft.com/office/drawing/2014/main" id="{7B45BCF5-8CBE-D41F-D02B-F7A30C8507B3}"/>
              </a:ext>
            </a:extLst>
          </p:cNvPr>
          <p:cNvSpPr/>
          <p:nvPr/>
        </p:nvSpPr>
        <p:spPr>
          <a:xfrm>
            <a:off x="427256" y="5412016"/>
            <a:ext cx="3500438" cy="5386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Повторить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4" name="Стрелка: вниз 153">
            <a:extLst>
              <a:ext uri="{FF2B5EF4-FFF2-40B4-BE49-F238E27FC236}">
                <a16:creationId xmlns:a16="http://schemas.microsoft.com/office/drawing/2014/main" id="{EF320164-0178-BCA1-F9C4-0823FCFED511}"/>
              </a:ext>
            </a:extLst>
          </p:cNvPr>
          <p:cNvSpPr/>
          <p:nvPr/>
        </p:nvSpPr>
        <p:spPr>
          <a:xfrm>
            <a:off x="2069436" y="4974779"/>
            <a:ext cx="216078" cy="396793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tx1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57" name="Прямоугольник 156">
            <a:extLst>
              <a:ext uri="{FF2B5EF4-FFF2-40B4-BE49-F238E27FC236}">
                <a16:creationId xmlns:a16="http://schemas.microsoft.com/office/drawing/2014/main" id="{A5242DC8-1D37-31A2-4F3C-BF22DB24A24D}"/>
              </a:ext>
            </a:extLst>
          </p:cNvPr>
          <p:cNvSpPr/>
          <p:nvPr/>
        </p:nvSpPr>
        <p:spPr>
          <a:xfrm>
            <a:off x="177225" y="6185437"/>
            <a:ext cx="4000500" cy="54379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Обучить целевую модель на накопленном размеченном наборе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8" name="Прямоугольник 157">
            <a:extLst>
              <a:ext uri="{FF2B5EF4-FFF2-40B4-BE49-F238E27FC236}">
                <a16:creationId xmlns:a16="http://schemas.microsoft.com/office/drawing/2014/main" id="{77CB5EA4-58AC-362B-E58D-EE08F3536395}"/>
              </a:ext>
            </a:extLst>
          </p:cNvPr>
          <p:cNvSpPr/>
          <p:nvPr/>
        </p:nvSpPr>
        <p:spPr>
          <a:xfrm>
            <a:off x="238125" y="1828800"/>
            <a:ext cx="3890963" cy="42339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62" name="Соединитель: уступ 161">
            <a:extLst>
              <a:ext uri="{FF2B5EF4-FFF2-40B4-BE49-F238E27FC236}">
                <a16:creationId xmlns:a16="http://schemas.microsoft.com/office/drawing/2014/main" id="{87EFAE39-D7F5-8274-428B-978EE728EFAF}"/>
              </a:ext>
            </a:extLst>
          </p:cNvPr>
          <p:cNvCxnSpPr>
            <a:cxnSpLocks/>
            <a:stCxn id="158" idx="3"/>
            <a:endCxn id="157" idx="3"/>
          </p:cNvCxnSpPr>
          <p:nvPr/>
        </p:nvCxnSpPr>
        <p:spPr>
          <a:xfrm>
            <a:off x="4129088" y="3945769"/>
            <a:ext cx="48637" cy="2511563"/>
          </a:xfrm>
          <a:prstGeom prst="bentConnector3">
            <a:avLst>
              <a:gd name="adj1" fmla="val 570013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Прямоугольник 165">
            <a:extLst>
              <a:ext uri="{FF2B5EF4-FFF2-40B4-BE49-F238E27FC236}">
                <a16:creationId xmlns:a16="http://schemas.microsoft.com/office/drawing/2014/main" id="{CF20FEF7-02F3-5CF2-35C1-81A9053C7A2E}"/>
              </a:ext>
            </a:extLst>
          </p:cNvPr>
          <p:cNvSpPr/>
          <p:nvPr/>
        </p:nvSpPr>
        <p:spPr>
          <a:xfrm>
            <a:off x="4975443" y="2103514"/>
            <a:ext cx="3500438" cy="60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Берем размеченный набор</a:t>
            </a:r>
          </a:p>
        </p:txBody>
      </p:sp>
      <p:sp>
        <p:nvSpPr>
          <p:cNvPr id="167" name="Прямоугольник 166">
            <a:extLst>
              <a:ext uri="{FF2B5EF4-FFF2-40B4-BE49-F238E27FC236}">
                <a16:creationId xmlns:a16="http://schemas.microsoft.com/office/drawing/2014/main" id="{B099BE4B-AF76-17ED-3800-DD2C8EC09225}"/>
              </a:ext>
            </a:extLst>
          </p:cNvPr>
          <p:cNvSpPr/>
          <p:nvPr/>
        </p:nvSpPr>
        <p:spPr>
          <a:xfrm>
            <a:off x="4975443" y="3217525"/>
            <a:ext cx="3500438" cy="60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Обучаем прокси и оцениваем примеры</a:t>
            </a:r>
          </a:p>
        </p:txBody>
      </p:sp>
      <p:sp>
        <p:nvSpPr>
          <p:cNvPr id="168" name="Прямоугольник 167">
            <a:extLst>
              <a:ext uri="{FF2B5EF4-FFF2-40B4-BE49-F238E27FC236}">
                <a16:creationId xmlns:a16="http://schemas.microsoft.com/office/drawing/2014/main" id="{7AE4B302-AA48-151A-C36C-5B495D05F7D0}"/>
              </a:ext>
            </a:extLst>
          </p:cNvPr>
          <p:cNvSpPr/>
          <p:nvPr/>
        </p:nvSpPr>
        <p:spPr>
          <a:xfrm>
            <a:off x="4975443" y="4361585"/>
            <a:ext cx="3500438" cy="54379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Оставляем поднабор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9" name="Стрелка: вниз 168">
            <a:extLst>
              <a:ext uri="{FF2B5EF4-FFF2-40B4-BE49-F238E27FC236}">
                <a16:creationId xmlns:a16="http://schemas.microsoft.com/office/drawing/2014/main" id="{D47822E4-5EB1-5FBD-309D-8EBAA17E82C8}"/>
              </a:ext>
            </a:extLst>
          </p:cNvPr>
          <p:cNvSpPr/>
          <p:nvPr/>
        </p:nvSpPr>
        <p:spPr>
          <a:xfrm>
            <a:off x="6604705" y="2787801"/>
            <a:ext cx="216078" cy="355443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tx1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70" name="Стрелка: вниз 169">
            <a:extLst>
              <a:ext uri="{FF2B5EF4-FFF2-40B4-BE49-F238E27FC236}">
                <a16:creationId xmlns:a16="http://schemas.microsoft.com/office/drawing/2014/main" id="{78CF8CD8-1E6D-A5AA-89BC-23CC554F85FD}"/>
              </a:ext>
            </a:extLst>
          </p:cNvPr>
          <p:cNvSpPr/>
          <p:nvPr/>
        </p:nvSpPr>
        <p:spPr>
          <a:xfrm>
            <a:off x="6617623" y="3884728"/>
            <a:ext cx="216078" cy="396793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tx1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71" name="Прямоугольник 170">
            <a:extLst>
              <a:ext uri="{FF2B5EF4-FFF2-40B4-BE49-F238E27FC236}">
                <a16:creationId xmlns:a16="http://schemas.microsoft.com/office/drawing/2014/main" id="{EA022ECD-8B9F-85AE-0912-CD49D1C6C01A}"/>
              </a:ext>
            </a:extLst>
          </p:cNvPr>
          <p:cNvSpPr/>
          <p:nvPr/>
        </p:nvSpPr>
        <p:spPr>
          <a:xfrm>
            <a:off x="4975443" y="5412016"/>
            <a:ext cx="3500438" cy="5386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Обучаем целевую модель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2" name="Стрелка: вниз 171">
            <a:extLst>
              <a:ext uri="{FF2B5EF4-FFF2-40B4-BE49-F238E27FC236}">
                <a16:creationId xmlns:a16="http://schemas.microsoft.com/office/drawing/2014/main" id="{F0FB57A1-B467-8C02-16CD-7A2AD1DEA1D4}"/>
              </a:ext>
            </a:extLst>
          </p:cNvPr>
          <p:cNvSpPr/>
          <p:nvPr/>
        </p:nvSpPr>
        <p:spPr>
          <a:xfrm>
            <a:off x="6617623" y="4974779"/>
            <a:ext cx="216078" cy="396793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tx1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77" name="Text 7">
            <a:extLst>
              <a:ext uri="{FF2B5EF4-FFF2-40B4-BE49-F238E27FC236}">
                <a16:creationId xmlns:a16="http://schemas.microsoft.com/office/drawing/2014/main" id="{2FAC5D27-4AC8-1F31-5A2A-B7AD331FDCD5}"/>
              </a:ext>
            </a:extLst>
          </p:cNvPr>
          <p:cNvSpPr/>
          <p:nvPr/>
        </p:nvSpPr>
        <p:spPr>
          <a:xfrm>
            <a:off x="427256" y="1770418"/>
            <a:ext cx="3094118" cy="498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SVP </a:t>
            </a:r>
            <a:r>
              <a:rPr lang="ru-RU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 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active learning</a:t>
            </a:r>
          </a:p>
        </p:txBody>
      </p:sp>
      <p:sp>
        <p:nvSpPr>
          <p:cNvPr id="179" name="Text 7">
            <a:extLst>
              <a:ext uri="{FF2B5EF4-FFF2-40B4-BE49-F238E27FC236}">
                <a16:creationId xmlns:a16="http://schemas.microsoft.com/office/drawing/2014/main" id="{41D6F9B1-BDE0-7BF4-61E4-E9C5FB5AEC48}"/>
              </a:ext>
            </a:extLst>
          </p:cNvPr>
          <p:cNvSpPr/>
          <p:nvPr/>
        </p:nvSpPr>
        <p:spPr>
          <a:xfrm>
            <a:off x="4975443" y="1749528"/>
            <a:ext cx="3094118" cy="498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SVP </a:t>
            </a:r>
            <a:r>
              <a:rPr lang="ru-RU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 выборе 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core-set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69CEBE45-2220-EB2F-B806-EC9862A5E4AC}"/>
              </a:ext>
            </a:extLst>
          </p:cNvPr>
          <p:cNvSpPr txBox="1"/>
          <p:nvPr/>
        </p:nvSpPr>
        <p:spPr>
          <a:xfrm>
            <a:off x="8696325" y="1376722"/>
            <a:ext cx="325755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SVP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для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active learning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позволяет отказаться от использования дорогой модели в каждом раунде выбора. Внутри цикла с этой задачей отлично справляется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proxy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а дорогостоящая целевая модель обучается для итогового предсказания. В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core-set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прокси сначала работает с полным размеченным набором. Важно учитывать, что метод выгоден, когда экономия на обучении целевой модели превышает затраты на отбор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9CC94-AFC1-C29E-8F3C-6303838C4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shgk6q24i222/mnt/agents/output/template_converted/images/image_4.png">
            <a:extLst>
              <a:ext uri="{FF2B5EF4-FFF2-40B4-BE49-F238E27FC236}">
                <a16:creationId xmlns:a16="http://schemas.microsoft.com/office/drawing/2014/main" id="{B6315492-D36B-80FC-12F8-9DDB7E32B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431800"/>
            <a:ext cx="2044700" cy="571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89A7035-FF45-2DE2-8347-37C8BC22FF46}"/>
              </a:ext>
            </a:extLst>
          </p:cNvPr>
          <p:cNvSpPr/>
          <p:nvPr/>
        </p:nvSpPr>
        <p:spPr>
          <a:xfrm>
            <a:off x="10769600" y="495300"/>
            <a:ext cx="9144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4000"/>
              </a:lnSpc>
            </a:pPr>
            <a:r>
              <a:rPr lang="en-US" sz="22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227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E2096E7-7AE9-29D7-9F7E-0150E1B1E34D}"/>
              </a:ext>
            </a:extLst>
          </p:cNvPr>
          <p:cNvSpPr/>
          <p:nvPr/>
        </p:nvSpPr>
        <p:spPr>
          <a:xfrm>
            <a:off x="635000" y="1206500"/>
            <a:ext cx="889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ru-RU" sz="3470" b="1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Главные результаты статьи</a:t>
            </a:r>
            <a:endParaRPr lang="en-US" sz="34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E681022F-B568-805C-025A-5F3F49C3EEC5}"/>
              </a:ext>
            </a:extLst>
          </p:cNvPr>
          <p:cNvSpPr/>
          <p:nvPr/>
        </p:nvSpPr>
        <p:spPr>
          <a:xfrm>
            <a:off x="11683937" y="6312291"/>
            <a:ext cx="260155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4000"/>
              </a:lnSpc>
            </a:pPr>
            <a:r>
              <a:rPr lang="ru-RU" sz="2270" dirty="0">
                <a:solidFill>
                  <a:srgbClr val="0000FF"/>
                </a:solidFill>
                <a:latin typeface="Arial" pitchFamily="34" charset="0"/>
                <a:cs typeface="Arial" pitchFamily="34" charset="-120"/>
              </a:rPr>
              <a:t>9</a:t>
            </a:r>
            <a:endParaRPr lang="en-US" sz="2270" dirty="0"/>
          </a:p>
        </p:txBody>
      </p:sp>
      <p:graphicFrame>
        <p:nvGraphicFramePr>
          <p:cNvPr id="6" name="Chart 0">
            <a:extLst>
              <a:ext uri="{FF2B5EF4-FFF2-40B4-BE49-F238E27FC236}">
                <a16:creationId xmlns:a16="http://schemas.microsoft.com/office/drawing/2014/main" id="{405B6E1D-0778-707E-C6BD-E26CC18751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9503511"/>
              </p:ext>
            </p:extLst>
          </p:nvPr>
        </p:nvGraphicFramePr>
        <p:xfrm>
          <a:off x="508000" y="1953125"/>
          <a:ext cx="6021388" cy="43591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9B227E0-2F7B-C1C8-A8C8-857EBC7895BD}"/>
              </a:ext>
            </a:extLst>
          </p:cNvPr>
          <p:cNvSpPr txBox="1"/>
          <p:nvPr/>
        </p:nvSpPr>
        <p:spPr>
          <a:xfrm>
            <a:off x="7127081" y="2980098"/>
            <a:ext cx="479583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На графике показаны максимальные значения из статьи для отдельных настроек. Также было отмечено, что на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CIFAR-10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можно убрать 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50%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данных и сохранить сопоставимое качество целевой модели, получив ускорение полного обучения примерно 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в 1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,6 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раза.</a:t>
            </a:r>
          </a:p>
        </p:txBody>
      </p:sp>
    </p:spTree>
    <p:extLst>
      <p:ext uri="{BB962C8B-B14F-4D97-AF65-F5344CB8AC3E}">
        <p14:creationId xmlns:p14="http://schemas.microsoft.com/office/powerpoint/2010/main" val="98328192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shgk6q24i222/mnt/agents/output/template_converted/images/image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431800"/>
            <a:ext cx="2044700" cy="571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769600" y="495300"/>
            <a:ext cx="9144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4000"/>
              </a:lnSpc>
            </a:pPr>
            <a:r>
              <a:rPr lang="en-US" sz="22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2270" dirty="0"/>
          </a:p>
        </p:txBody>
      </p:sp>
      <p:sp>
        <p:nvSpPr>
          <p:cNvPr id="4" name="Text 1"/>
          <p:cNvSpPr/>
          <p:nvPr/>
        </p:nvSpPr>
        <p:spPr>
          <a:xfrm>
            <a:off x="635000" y="1206500"/>
            <a:ext cx="889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ru-RU" sz="3470" b="1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Ограничения и оговорки</a:t>
            </a:r>
            <a:endParaRPr lang="en-US" sz="34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4DD2D2FC-E203-EBC5-40C4-15DD74701130}"/>
              </a:ext>
            </a:extLst>
          </p:cNvPr>
          <p:cNvSpPr/>
          <p:nvPr/>
        </p:nvSpPr>
        <p:spPr>
          <a:xfrm>
            <a:off x="11683937" y="6312291"/>
            <a:ext cx="260155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4000"/>
              </a:lnSpc>
            </a:pPr>
            <a:r>
              <a:rPr lang="ru-RU" sz="2270" dirty="0">
                <a:solidFill>
                  <a:srgbClr val="0000FF"/>
                </a:solidFill>
                <a:latin typeface="Arial" pitchFamily="34" charset="0"/>
                <a:cs typeface="Arial" pitchFamily="34" charset="-120"/>
              </a:rPr>
              <a:t>10</a:t>
            </a:r>
            <a:endParaRPr lang="en-US" sz="2270" dirty="0"/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6E54FBA8-7657-63B5-6188-11F478C3A116}"/>
              </a:ext>
            </a:extLst>
          </p:cNvPr>
          <p:cNvSpPr/>
          <p:nvPr/>
        </p:nvSpPr>
        <p:spPr>
          <a:xfrm>
            <a:off x="558786" y="1921578"/>
            <a:ext cx="5435464" cy="1968500"/>
          </a:xfrm>
          <a:prstGeom prst="rect">
            <a:avLst/>
          </a:prstGeom>
          <a:solidFill>
            <a:schemeClr val="bg2">
              <a:lumMod val="50000"/>
            </a:schemeClr>
          </a:solidFill>
          <a:ln/>
          <a:effectLst>
            <a:outerShdw blurRad="327660" dist="127" dir="16200000" algn="bl" rotWithShape="0">
              <a:srgbClr val="F4C45A">
                <a:alpha val="20000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AE9A6AE3-49B8-92A4-C578-659AF5B737B6}"/>
              </a:ext>
            </a:extLst>
          </p:cNvPr>
          <p:cNvSpPr/>
          <p:nvPr/>
        </p:nvSpPr>
        <p:spPr>
          <a:xfrm>
            <a:off x="812780" y="2833843"/>
            <a:ext cx="4927477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18000"/>
              </a:lnSpc>
              <a:buNone/>
            </a:pPr>
            <a:r>
              <a:rPr lang="ru-RU" dirty="0">
                <a:solidFill>
                  <a:srgbClr val="EEF0FF"/>
                </a:solidFill>
                <a:latin typeface="Arial" panose="020B0604020202020204" pitchFamily="34" charset="0"/>
                <a:ea typeface="Noto Sans" pitchFamily="34" charset="-122"/>
                <a:cs typeface="Arial" panose="020B0604020202020204" pitchFamily="34" charset="0"/>
              </a:rPr>
              <a:t>У</a:t>
            </a:r>
            <a:r>
              <a:rPr lang="en-US" dirty="0" err="1">
                <a:solidFill>
                  <a:srgbClr val="EEF0FF"/>
                </a:solidFill>
                <a:latin typeface="Arial" panose="020B0604020202020204" pitchFamily="34" charset="0"/>
                <a:ea typeface="Noto Sans" pitchFamily="34" charset="-122"/>
                <a:cs typeface="Arial" panose="020B0604020202020204" pitchFamily="34" charset="0"/>
              </a:rPr>
              <a:t>далить</a:t>
            </a:r>
            <a:r>
              <a:rPr lang="en-US" dirty="0">
                <a:solidFill>
                  <a:srgbClr val="EEF0FF"/>
                </a:solidFill>
                <a:latin typeface="Arial" panose="020B0604020202020204" pitchFamily="34" charset="0"/>
                <a:ea typeface="Noto Sans" pitchFamily="34" charset="-122"/>
                <a:cs typeface="Arial" panose="020B0604020202020204" pitchFamily="34" charset="0"/>
              </a:rPr>
              <a:t> значимую долю данных без потери качества не удалось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6F5287BF-6BAD-4C11-CAA3-AB83C98CD243}"/>
              </a:ext>
            </a:extLst>
          </p:cNvPr>
          <p:cNvSpPr/>
          <p:nvPr/>
        </p:nvSpPr>
        <p:spPr>
          <a:xfrm>
            <a:off x="6197445" y="1921578"/>
            <a:ext cx="5435464" cy="1968500"/>
          </a:xfrm>
          <a:prstGeom prst="rect">
            <a:avLst/>
          </a:prstGeom>
          <a:solidFill>
            <a:schemeClr val="bg2">
              <a:lumMod val="50000"/>
            </a:schemeClr>
          </a:solidFill>
          <a:ln/>
          <a:effectLst>
            <a:outerShdw blurRad="327660" dist="127" dir="16200000" algn="bl" rotWithShape="0">
              <a:srgbClr val="F4C45A">
                <a:alpha val="20000"/>
              </a:srgbClr>
            </a:outerShdw>
          </a:effectLst>
        </p:spPr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14BB437E-84F1-F8EF-D6AD-29B0FDC3A14E}"/>
              </a:ext>
            </a:extLst>
          </p:cNvPr>
          <p:cNvSpPr/>
          <p:nvPr/>
        </p:nvSpPr>
        <p:spPr>
          <a:xfrm>
            <a:off x="6495889" y="2854330"/>
            <a:ext cx="4927477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>
              <a:lnSpc>
                <a:spcPct val="118000"/>
              </a:lnSpc>
            </a:pPr>
            <a:r>
              <a:rPr lang="ru-RU" dirty="0">
                <a:solidFill>
                  <a:srgbClr val="EEF0FF"/>
                </a:solidFill>
                <a:latin typeface="Arial" panose="020B0604020202020204" pitchFamily="34" charset="0"/>
                <a:ea typeface="Noto Sans" pitchFamily="34" charset="-122"/>
                <a:cs typeface="Arial" panose="020B0604020202020204" pitchFamily="34" charset="0"/>
              </a:rPr>
              <a:t>Н</a:t>
            </a:r>
            <a:r>
              <a:rPr lang="en-US" dirty="0">
                <a:solidFill>
                  <a:srgbClr val="EEF0FF"/>
                </a:solidFill>
                <a:latin typeface="Arial" panose="020B0604020202020204" pitchFamily="34" charset="0"/>
                <a:ea typeface="Noto Sans" pitchFamily="34" charset="-122"/>
                <a:cs typeface="Arial" panose="020B0604020202020204" pitchFamily="34" charset="0"/>
              </a:rPr>
              <a:t>и базовый метод, ни SVP </a:t>
            </a:r>
            <a:r>
              <a:rPr lang="en-US" dirty="0" err="1">
                <a:solidFill>
                  <a:srgbClr val="EEF0FF"/>
                </a:solidFill>
                <a:latin typeface="Arial" panose="020B0604020202020204" pitchFamily="34" charset="0"/>
                <a:ea typeface="Noto Sans" pitchFamily="34" charset="-122"/>
                <a:cs typeface="Arial" panose="020B0604020202020204" pitchFamily="34" charset="0"/>
              </a:rPr>
              <a:t>не</a:t>
            </a:r>
            <a:r>
              <a:rPr lang="en-US" dirty="0">
                <a:solidFill>
                  <a:srgbClr val="EEF0FF"/>
                </a:solidFill>
                <a:latin typeface="Arial" panose="020B0604020202020204" pitchFamily="34" charset="0"/>
                <a:ea typeface="Noto Sans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EEF0FF"/>
                </a:solidFill>
                <a:latin typeface="Arial" panose="020B0604020202020204" pitchFamily="34" charset="0"/>
                <a:ea typeface="Noto Sans" pitchFamily="34" charset="-122"/>
                <a:cs typeface="Arial" panose="020B0604020202020204" pitchFamily="34" charset="0"/>
              </a:rPr>
              <a:t>обошли</a:t>
            </a:r>
            <a:r>
              <a:rPr lang="en-US" dirty="0">
                <a:solidFill>
                  <a:srgbClr val="EEF0FF"/>
                </a:solidFill>
                <a:latin typeface="Arial" panose="020B0604020202020204" pitchFamily="34" charset="0"/>
                <a:ea typeface="Noto Sans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EEF0FF"/>
                </a:solidFill>
                <a:latin typeface="Arial" panose="020B0604020202020204" pitchFamily="34" charset="0"/>
                <a:ea typeface="Noto Sans" pitchFamily="34" charset="-122"/>
                <a:cs typeface="Arial" panose="020B0604020202020204" pitchFamily="34" charset="0"/>
              </a:rPr>
              <a:t>случайный</a:t>
            </a:r>
            <a:r>
              <a:rPr lang="en-US" dirty="0">
                <a:solidFill>
                  <a:srgbClr val="EEF0FF"/>
                </a:solidFill>
                <a:latin typeface="Arial" panose="020B0604020202020204" pitchFamily="34" charset="0"/>
                <a:ea typeface="Noto Sans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EEF0FF"/>
                </a:solidFill>
                <a:latin typeface="Arial" panose="020B0604020202020204" pitchFamily="34" charset="0"/>
                <a:ea typeface="Noto Sans" pitchFamily="34" charset="-122"/>
                <a:cs typeface="Arial" panose="020B0604020202020204" pitchFamily="34" charset="0"/>
              </a:rPr>
              <a:t>выбор</a:t>
            </a:r>
            <a:endParaRPr lang="en-US" dirty="0">
              <a:solidFill>
                <a:srgbClr val="EEF0FF"/>
              </a:solidFill>
              <a:latin typeface="Arial" panose="020B0604020202020204" pitchFamily="34" charset="0"/>
              <a:ea typeface="Noto Sans" pitchFamily="34" charset="-122"/>
              <a:cs typeface="Arial" panose="020B0604020202020204" pitchFamily="34" charset="0"/>
            </a:endParaRPr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3DA70A33-8816-E009-761D-5112E091D4B2}"/>
              </a:ext>
            </a:extLst>
          </p:cNvPr>
          <p:cNvSpPr/>
          <p:nvPr/>
        </p:nvSpPr>
        <p:spPr>
          <a:xfrm>
            <a:off x="558786" y="4080578"/>
            <a:ext cx="5435464" cy="1968500"/>
          </a:xfrm>
          <a:prstGeom prst="rect">
            <a:avLst/>
          </a:prstGeom>
          <a:solidFill>
            <a:schemeClr val="bg2">
              <a:lumMod val="50000"/>
            </a:schemeClr>
          </a:solidFill>
          <a:ln/>
          <a:effectLst>
            <a:outerShdw blurRad="327660" dist="127" dir="16200000" algn="bl" rotWithShape="0">
              <a:srgbClr val="F4C45A">
                <a:alpha val="20000"/>
              </a:srgbClr>
            </a:outerShdw>
          </a:effectLst>
        </p:spPr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E0B168BC-2FFD-C354-9B6E-EDCE6D9F5D1C}"/>
              </a:ext>
            </a:extLst>
          </p:cNvPr>
          <p:cNvSpPr/>
          <p:nvPr/>
        </p:nvSpPr>
        <p:spPr>
          <a:xfrm>
            <a:off x="812780" y="4889505"/>
            <a:ext cx="4927477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dirty="0">
                <a:solidFill>
                  <a:srgbClr val="EEF0FF"/>
                </a:solidFill>
                <a:latin typeface="Arial" panose="020B0604020202020204" pitchFamily="34" charset="0"/>
                <a:ea typeface="Noto Sans" pitchFamily="34" charset="-122"/>
                <a:cs typeface="Arial" panose="020B0604020202020204" pitchFamily="34" charset="0"/>
              </a:rPr>
              <a:t>Greedy k-centers квадратично растёт по сложности и не запустился на больших данных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11">
            <a:extLst>
              <a:ext uri="{FF2B5EF4-FFF2-40B4-BE49-F238E27FC236}">
                <a16:creationId xmlns:a16="http://schemas.microsoft.com/office/drawing/2014/main" id="{40B4CEF4-572E-8C24-87EA-9A6452EC3C81}"/>
              </a:ext>
            </a:extLst>
          </p:cNvPr>
          <p:cNvSpPr/>
          <p:nvPr/>
        </p:nvSpPr>
        <p:spPr>
          <a:xfrm>
            <a:off x="6197445" y="4080578"/>
            <a:ext cx="5435464" cy="1968500"/>
          </a:xfrm>
          <a:prstGeom prst="rect">
            <a:avLst/>
          </a:prstGeom>
          <a:solidFill>
            <a:schemeClr val="bg2">
              <a:lumMod val="50000"/>
            </a:schemeClr>
          </a:solidFill>
          <a:ln/>
          <a:effectLst>
            <a:outerShdw blurRad="327660" dist="127" dir="16200000" algn="bl" rotWithShape="0">
              <a:srgbClr val="F4C45A">
                <a:alpha val="20000"/>
              </a:srgbClr>
            </a:outerShdw>
          </a:effectLst>
        </p:spPr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32CD845D-FD2E-9855-49CA-B0C0D3303C96}"/>
              </a:ext>
            </a:extLst>
          </p:cNvPr>
          <p:cNvSpPr/>
          <p:nvPr/>
        </p:nvSpPr>
        <p:spPr>
          <a:xfrm>
            <a:off x="558786" y="1914243"/>
            <a:ext cx="5435464" cy="6838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ea typeface="Noto Sans" pitchFamily="34" charset="-122"/>
                <a:cs typeface="Arial" panose="020B0604020202020204" pitchFamily="34" charset="0"/>
              </a:rPr>
              <a:t>ImageNet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4E21FB67-3314-EC35-3BE2-6FA8F8FA8BC8}"/>
              </a:ext>
            </a:extLst>
          </p:cNvPr>
          <p:cNvSpPr/>
          <p:nvPr/>
        </p:nvSpPr>
        <p:spPr>
          <a:xfrm>
            <a:off x="6451743" y="4889505"/>
            <a:ext cx="4927477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dirty="0">
                <a:solidFill>
                  <a:srgbClr val="EEF0FF"/>
                </a:solidFill>
                <a:latin typeface="Arial" panose="020B0604020202020204" pitchFamily="34" charset="0"/>
                <a:ea typeface="Noto Sans" pitchFamily="34" charset="-122"/>
                <a:cs typeface="Arial" panose="020B0604020202020204" pitchFamily="34" charset="0"/>
              </a:rPr>
              <a:t>На CIFAR100 ранняя остановка прокси работает хуже: рейтинг стабилизируется дольше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07A8EE28-FD5F-7C0A-AE99-DC2CF1C23936}"/>
              </a:ext>
            </a:extLst>
          </p:cNvPr>
          <p:cNvSpPr/>
          <p:nvPr/>
        </p:nvSpPr>
        <p:spPr>
          <a:xfrm>
            <a:off x="6197445" y="1921578"/>
            <a:ext cx="5435464" cy="6838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ea typeface="Noto Sans" pitchFamily="34" charset="-122"/>
                <a:cs typeface="Arial" panose="020B0604020202020204" pitchFamily="34" charset="0"/>
              </a:rPr>
              <a:t>Amazon Review Full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endParaRPr lang="ru-RU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F669AA9B-6B09-421B-4BDE-0CF5A73C6905}"/>
              </a:ext>
            </a:extLst>
          </p:cNvPr>
          <p:cNvSpPr/>
          <p:nvPr/>
        </p:nvSpPr>
        <p:spPr>
          <a:xfrm>
            <a:off x="558786" y="4080578"/>
            <a:ext cx="5435464" cy="6838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ea typeface="Noto Sans" pitchFamily="34" charset="-122"/>
                <a:cs typeface="Arial" panose="020B0604020202020204" pitchFamily="34" charset="0"/>
              </a:rPr>
              <a:t>Greedy k-centers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9CE83E42-DDCD-26BE-30CC-A0C2DB0E0869}"/>
              </a:ext>
            </a:extLst>
          </p:cNvPr>
          <p:cNvSpPr/>
          <p:nvPr/>
        </p:nvSpPr>
        <p:spPr>
          <a:xfrm>
            <a:off x="6197445" y="4080578"/>
            <a:ext cx="5435464" cy="6838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ea typeface="Noto Sans" pitchFamily="34" charset="-122"/>
                <a:cs typeface="Arial" panose="020B0604020202020204" pitchFamily="34" charset="0"/>
              </a:rPr>
              <a:t>CIFAR100</a:t>
            </a:r>
          </a:p>
        </p:txBody>
      </p:sp>
      <p:sp>
        <p:nvSpPr>
          <p:cNvPr id="54" name="Text 14">
            <a:extLst>
              <a:ext uri="{FF2B5EF4-FFF2-40B4-BE49-F238E27FC236}">
                <a16:creationId xmlns:a16="http://schemas.microsoft.com/office/drawing/2014/main" id="{1CBD3F4D-31D2-0398-8479-830CCD9C6C4C}"/>
              </a:ext>
            </a:extLst>
          </p:cNvPr>
          <p:cNvSpPr/>
          <p:nvPr/>
        </p:nvSpPr>
        <p:spPr>
          <a:xfrm>
            <a:off x="558786" y="6247104"/>
            <a:ext cx="11626261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000" b="1" dirty="0">
                <a:latin typeface="Arial" panose="020B0604020202020204" pitchFamily="34" charset="0"/>
                <a:ea typeface="Noto Sans Bold" pitchFamily="34" charset="-122"/>
                <a:cs typeface="Arial" panose="020B0604020202020204" pitchFamily="34" charset="0"/>
              </a:rPr>
              <a:t>Вывод:</a:t>
            </a:r>
            <a:r>
              <a:rPr lang="en-US" sz="2000" dirty="0">
                <a:latin typeface="Arial" panose="020B0604020202020204" pitchFamily="34" charset="0"/>
                <a:ea typeface="Noto Sans" pitchFamily="34" charset="-122"/>
                <a:cs typeface="Arial" panose="020B0604020202020204" pitchFamily="34" charset="0"/>
              </a:rPr>
              <a:t> метод не универсален, и это важно учитывать </a:t>
            </a:r>
            <a:r>
              <a:rPr lang="en-US" sz="2000" dirty="0" err="1">
                <a:latin typeface="Arial" panose="020B0604020202020204" pitchFamily="34" charset="0"/>
                <a:ea typeface="Noto Sans" pitchFamily="34" charset="-122"/>
                <a:cs typeface="Arial" panose="020B0604020202020204" pitchFamily="34" charset="0"/>
              </a:rPr>
              <a:t>при</a:t>
            </a:r>
            <a:r>
              <a:rPr lang="en-US" sz="2000" dirty="0">
                <a:latin typeface="Arial" panose="020B0604020202020204" pitchFamily="34" charset="0"/>
                <a:ea typeface="Noto Sans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ea typeface="Noto Sans" pitchFamily="34" charset="-122"/>
                <a:cs typeface="Arial" panose="020B0604020202020204" pitchFamily="34" charset="0"/>
              </a:rPr>
              <a:t>выборе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4BA78-857F-993F-E85E-45AC27ABC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https://kimi-img.moonshot.cn/pub/slides/okc/r2n2iqmlsz3m4/mnt/agents/output/template/images/image_4.png">
            <a:extLst>
              <a:ext uri="{FF2B5EF4-FFF2-40B4-BE49-F238E27FC236}">
                <a16:creationId xmlns:a16="http://schemas.microsoft.com/office/drawing/2014/main" id="{29A2F380-A737-B0FC-72F4-0ED829C4B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431800"/>
            <a:ext cx="2044700" cy="571500"/>
          </a:xfrm>
          <a:prstGeom prst="rect">
            <a:avLst/>
          </a:prstGeom>
        </p:spPr>
      </p:pic>
      <p:pic>
        <p:nvPicPr>
          <p:cNvPr id="5" name="Image 1" descr="https://kimi-img.moonshot.cn/pub/slides/okc/r2n2iqmlsz3m4/mnt/agents/output/template/images/image_2.png">
            <a:extLst>
              <a:ext uri="{FF2B5EF4-FFF2-40B4-BE49-F238E27FC236}">
                <a16:creationId xmlns:a16="http://schemas.microsoft.com/office/drawing/2014/main" id="{6AA31E59-DDFC-7B4B-1F32-95A35FC569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5969000"/>
            <a:ext cx="939800" cy="254000"/>
          </a:xfrm>
          <a:prstGeom prst="rect">
            <a:avLst/>
          </a:prstGeom>
        </p:spPr>
      </p:pic>
      <p:pic>
        <p:nvPicPr>
          <p:cNvPr id="6" name="Image 2" descr="https://kimi-img.moonshot.cn/pub/slides/okc/r2n2iqmlsz3m4/mnt/agents/output/template/images/image_1.png">
            <a:extLst>
              <a:ext uri="{FF2B5EF4-FFF2-40B4-BE49-F238E27FC236}">
                <a16:creationId xmlns:a16="http://schemas.microsoft.com/office/drawing/2014/main" id="{AE94DCBC-D35D-868A-3494-8C99767874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4000" y="6045200"/>
            <a:ext cx="2235200" cy="177800"/>
          </a:xfrm>
          <a:prstGeom prst="rect">
            <a:avLst/>
          </a:prstGeom>
        </p:spPr>
      </p:pic>
      <p:sp>
        <p:nvSpPr>
          <p:cNvPr id="8" name="Text 0">
            <a:extLst>
              <a:ext uri="{FF2B5EF4-FFF2-40B4-BE49-F238E27FC236}">
                <a16:creationId xmlns:a16="http://schemas.microsoft.com/office/drawing/2014/main" id="{AD8163DF-9D72-1977-B9D9-AE37A9E1B322}"/>
              </a:ext>
            </a:extLst>
          </p:cNvPr>
          <p:cNvSpPr/>
          <p:nvPr/>
        </p:nvSpPr>
        <p:spPr>
          <a:xfrm>
            <a:off x="635000" y="1922295"/>
            <a:ext cx="8890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en-US" sz="6000" b="1" dirty="0"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Спасибо за внимание!</a:t>
            </a:r>
            <a:endParaRPr lang="en-US" sz="6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724076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2150</TotalTime>
  <Words>697</Words>
  <Application>Microsoft Office PowerPoint</Application>
  <PresentationFormat>Широкоэкранный</PresentationFormat>
  <Paragraphs>101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Courier New</vt:lpstr>
      <vt:lpstr>Inter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Risk-Aware Demand Forecasting для ритейла</dc:title>
  <dc:subject>Risk-Aware Demand Forecasting для ритейла</dc:subject>
  <dc:creator>Kimi</dc:creator>
  <cp:lastModifiedBy>Вячеслав Андреев</cp:lastModifiedBy>
  <cp:revision>24</cp:revision>
  <dcterms:created xsi:type="dcterms:W3CDTF">2026-07-04T09:10:21Z</dcterms:created>
  <dcterms:modified xsi:type="dcterms:W3CDTF">2026-10-11T00:28:56Z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{"Label":"Risk-Aware Demand Forecasting для ритейла","ContentProducer":"001191110108MACG2KBH8F10000","ProduceID":"19f2c332-f8b2-8a36-8000-0000d3c561cf","ReservedCode1":"","ContentPropagator":"001191110108MACG2KBH8F20000","PropagateID":"19f2c267-c642-8cc4-8000-09ecc14d22a1","ReservedCode2":""}</vt:lpwstr>
  </property>
</Properties>
</file>